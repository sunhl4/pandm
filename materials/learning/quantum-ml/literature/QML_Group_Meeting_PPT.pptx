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QML Presentation</a:t>
            </a:r>
          </a:p>
        </p:txBody>
      </p:sp>
      <p:sp>
        <p:nvSpPr>
          <p:cNvPr id="3" name="Content Placeholder 2"/>
          <p:cNvSpPr>
            <a:spLocks noGrp="1"/>
          </p:cNvSpPr>
          <p:nvPr>
            <p:ph idx="1"/>
          </p:nvPr>
        </p:nvSpPr>
        <p:spPr/>
        <p:txBody>
          <a:bodyPr wrap="square"/>
          <a:lstStyle/>
          <a:p/>
          <a:p>
            <a:pPr/>
            <a:r>
              <a:t># 量子机器学习 (QML) 组会汇报大纲</a:t>
            </a:r>
          </a:p>
          <a:p>
            <a:pPr/>
            <a:r>
              <a:t>## 针对 ReaxFF-DFT 残差学习的原理科普</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第 1 页：为什么选择量子机器学习 (QML)？</a:t>
            </a:r>
          </a:p>
        </p:txBody>
      </p:sp>
      <p:sp>
        <p:nvSpPr>
          <p:cNvPr id="3" name="Content Placeholder 2"/>
          <p:cNvSpPr>
            <a:spLocks noGrp="1"/>
          </p:cNvSpPr>
          <p:nvPr>
            <p:ph idx="1"/>
          </p:nvPr>
        </p:nvSpPr>
        <p:spPr/>
        <p:txBody>
          <a:bodyPr wrap="square"/>
          <a:lstStyle/>
          <a:p/>
          <a:p>
            <a:pPr>
              <a:defRPr b="1"/>
            </a:pPr>
            <a:r>
              <a:t>核心优势：指数级特征空间与小样本表达能力</a:t>
            </a:r>
          </a:p>
          <a:p>
            <a:pPr/>
            <a:r>
              <a:t>**指数级计算空间**：</a:t>
            </a:r>
          </a:p>
          <a:p>
            <a:pPr/>
            <a:r>
              <a:t>$n$ 个量子比特可以表示 $2^n$ 维的状态向量。</a:t>
            </a:r>
          </a:p>
          <a:p>
            <a:pPr/>
            <a:r>
              <a:t>**对比**：对于 20 个分子特征，经典空间是 20 维，而量子希尔伯特空间可达 $2^{20} \approx 100$ 万维。</a:t>
            </a:r>
          </a:p>
          <a:p>
            <a:pPr/>
            <a:r>
              <a:t>**天然的非线性升维工具**：</a:t>
            </a:r>
          </a:p>
          <a:p>
            <a:pPr/>
            <a:r>
              <a:t>QML 本质上是一种极其高效的**非线性升维方法**。它能将低维的分子构型特征映射到极高维的量子态空间，从而更容易捕捉复杂的残差规律。</a:t>
            </a:r>
          </a:p>
          <a:p>
            <a:pPr/>
            <a:r>
              <a:t>**小样本优势**：</a:t>
            </a:r>
          </a:p>
          <a:p>
            <a:pPr/>
            <a:r>
              <a:t>DFT 计算昂贵导致样本量小。QML 的高维投影能力使其在泛化性能和数据效率上具有超越经典神经网络（如 GNN）的潜力。</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第 2 页：量子机器学习的数学表示</a:t>
            </a:r>
          </a:p>
        </p:txBody>
      </p:sp>
      <p:sp>
        <p:nvSpPr>
          <p:cNvPr id="3" name="Content Placeholder 2"/>
          <p:cNvSpPr>
            <a:spLocks noGrp="1"/>
          </p:cNvSpPr>
          <p:nvPr>
            <p:ph idx="1"/>
          </p:nvPr>
        </p:nvSpPr>
        <p:spPr/>
        <p:txBody>
          <a:bodyPr wrap="square"/>
          <a:lstStyle/>
          <a:p/>
          <a:p>
            <a:pPr>
              <a:defRPr b="1"/>
            </a:pPr>
            <a:r>
              <a:t>核心原理：量子态即向量，量子操作即矩阵</a:t>
            </a:r>
          </a:p>
          <a:p>
            <a:pPr/>
            <a:r>
              <a:t>**量子比特的向量表示**：</a:t>
            </a:r>
          </a:p>
          <a:p>
            <a:pPr/>
            <a:r>
              <a:t>单量子比特状态存在于二维复向量空间 $\mathbb{C}^2$ 中。</a:t>
            </a:r>
          </a:p>
          <a:p>
            <a:pPr/>
            <a:r>
              <a:t>**计算基态**：$|0\rangle = \begin{bmatrix} 1 \\ 0 \end{bmatrix}$，$|1\rangle = \begin{bmatrix} 0 \\ 1 \end{bmatrix}$。</a:t>
            </a:r>
          </a:p>
          <a:p>
            <a:pPr/>
            <a:r>
              <a:t>**叠加原理 (Superposition)**：</a:t>
            </a:r>
          </a:p>
          <a:p>
            <a:pPr/>
            <a:r>
              <a:t>量子态可以表示为基态的线性组合：$|\psi\rangle = \alpha|0\rangle + \beta|1\rangle = \begin{bmatrix} \alpha \\ \beta \end{bmatrix}$。</a:t>
            </a:r>
          </a:p>
          <a:p>
            <a:pPr/>
            <a:r>
              <a:t>**归一化条件**：$|\alpha|^2 + |\beta|^2 = 1$（确保测量概率总和为 1）。</a:t>
            </a:r>
          </a:p>
          <a:p>
            <a:pPr/>
            <a:r>
              <a:t>**Dirac 记号 (Dirac Notation)**：</a:t>
            </a:r>
          </a:p>
          <a:p>
            <a:pPr/>
            <a:r>
              <a:t>**右矢 (Ket)** $|\psi\rangle$：表示列向量。</a:t>
            </a:r>
          </a:p>
          <a:p>
            <a:pPr/>
            <a:r>
              <a:t>**左矢 (Bra)** $\langle\psi|$：表示其共轭转置的行向量。</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第 3 页：量子数据编码 (Encoding)</a:t>
            </a:r>
          </a:p>
        </p:txBody>
      </p:sp>
      <p:sp>
        <p:nvSpPr>
          <p:cNvPr id="3" name="Content Placeholder 2"/>
          <p:cNvSpPr>
            <a:spLocks noGrp="1"/>
          </p:cNvSpPr>
          <p:nvPr>
            <p:ph idx="1"/>
          </p:nvPr>
        </p:nvSpPr>
        <p:spPr/>
        <p:txBody>
          <a:bodyPr wrap="square"/>
          <a:lstStyle/>
          <a:p/>
          <a:p>
            <a:pPr>
              <a:defRPr b="1"/>
            </a:pPr>
            <a:r>
              <a:t>核心原理：将经典数据转化为量子态的“大门”</a:t>
            </a:r>
          </a:p>
          <a:p>
            <a:pPr/>
            <a:r>
              <a:t>**Angle Embedding（角度编码）**：</a:t>
            </a:r>
          </a:p>
          <a:p>
            <a:pPr/>
            <a:r>
              <a:t>**方法**：将特征值 $x_i$ 映射为旋转门的旋转角度。</a:t>
            </a:r>
          </a:p>
          <a:p>
            <a:pPr/>
            <a:r>
              <a:t>**数学形式**：$|\psi(x)\rangle = \bigotimes_{i=1}^{n} R_Y(x_i) |0\rangle$。</a:t>
            </a:r>
          </a:p>
          <a:p>
            <a:pPr/>
            <a:r>
              <a:t>**特点**：最常用，资源消耗低（$n$ 个特征只需 $n$ 个比特）。</a:t>
            </a:r>
          </a:p>
          <a:p>
            <a:pPr/>
            <a:r>
              <a:t>**Amplitude Embedding（振幅编码）**：</a:t>
            </a:r>
          </a:p>
          <a:p>
            <a:pPr/>
            <a:r>
              <a:t>**方法**：将整个特征向量 $x$ 编码为量子态的振幅系数。</a:t>
            </a:r>
          </a:p>
          <a:p>
            <a:pPr/>
            <a:r>
              <a:t>**数学形式**：$|\psi(x)\rangle = \sum_{i=1}^{2^n} x_i |i\rangle$。</a:t>
            </a:r>
          </a:p>
          <a:p>
            <a:pPr/>
            <a:r>
              <a:t>**特点**：表达密度极高，适合大规模特征。</a:t>
            </a:r>
          </a:p>
          <a:p>
            <a:pPr/>
            <a:r>
              <a:t>**预处理**：数据必须缩放到 $[0, \pi]$，以匹配旋转门的周期性。</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第 4 页：量子门电路 (Quantum Gates)</a:t>
            </a:r>
          </a:p>
        </p:txBody>
      </p:sp>
      <p:sp>
        <p:nvSpPr>
          <p:cNvPr id="3" name="Content Placeholder 2"/>
          <p:cNvSpPr>
            <a:spLocks noGrp="1"/>
          </p:cNvSpPr>
          <p:nvPr>
            <p:ph idx="1"/>
          </p:nvPr>
        </p:nvSpPr>
        <p:spPr/>
        <p:txBody>
          <a:bodyPr wrap="square"/>
          <a:lstStyle/>
          <a:p/>
          <a:p>
            <a:pPr>
              <a:defRPr b="1"/>
            </a:pPr>
            <a:r>
              <a:t>核心原理：实现非线性关联与逻辑变换</a:t>
            </a:r>
          </a:p>
          <a:p>
            <a:pPr/>
            <a:r>
              <a:t>**单比特旋转门（非线性来源）**：</a:t>
            </a:r>
          </a:p>
          <a:p>
            <a:pPr/>
            <a:r>
              <a:t>$R_Y(\theta) = \begin{pmatrix} \cos(\theta/2) &amp; -\sin(\theta/2) \\ \sin(\theta/2) &amp; \cos(\theta/2) \end{pmatrix}$</a:t>
            </a:r>
          </a:p>
          <a:p>
            <a:pPr/>
            <a:r>
              <a:t>$R_Z(\theta) = \begin{pmatrix} e^{-i\theta/2} &amp; 0 \\ 0 &amp; e^{i\theta/2} \end{pmatrix}$</a:t>
            </a:r>
          </a:p>
          <a:p>
            <a:pPr/>
            <a:r>
              <a:t>**作用**：通过三角函数引入初始非线性映射。</a:t>
            </a:r>
          </a:p>
          <a:p>
            <a:pPr/>
            <a:r>
              <a:t>**双比特纠缠门（关键机制）**：</a:t>
            </a:r>
          </a:p>
          <a:p>
            <a:pPr/>
            <a:r>
              <a:t>**CNOT 门**：如果控制位为 1，则翻转目标位。</a:t>
            </a:r>
          </a:p>
          <a:p>
            <a:pPr/>
            <a:r>
              <a:t>**非线性关联**：创建量子比特间的不可分离态（$|\psi\rangle \neq |\psi_1\rangle \otimes |\psi_2\rangle$）。</a:t>
            </a:r>
          </a:p>
          <a:p>
            <a:pPr/>
            <a:r>
              <a:t>**作用**：捕获分子特征之间（如原子对交互）的高阶非经典关联。</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第 5 页：变分量子电路 (VQC) 与测量</a:t>
            </a:r>
          </a:p>
        </p:txBody>
      </p:sp>
      <p:sp>
        <p:nvSpPr>
          <p:cNvPr id="3" name="Content Placeholder 2"/>
          <p:cNvSpPr>
            <a:spLocks noGrp="1"/>
          </p:cNvSpPr>
          <p:nvPr>
            <p:ph idx="1"/>
          </p:nvPr>
        </p:nvSpPr>
        <p:spPr/>
        <p:txBody>
          <a:bodyPr wrap="square"/>
          <a:lstStyle/>
          <a:p/>
          <a:p>
            <a:pPr>
              <a:defRPr b="1"/>
            </a:pPr>
            <a:r>
              <a:t>核心原理：经典-量子混合优化架构</a:t>
            </a:r>
          </a:p>
          <a:p>
            <a:pPr/>
            <a:r>
              <a:t>**电路设计 (Ansatz)**：</a:t>
            </a:r>
          </a:p>
          <a:p>
            <a:pPr/>
            <a:r>
              <a:t>由**编码层**（输入数据）和**变分层**（可训练参数 $\theta$）组成。</a:t>
            </a:r>
          </a:p>
          <a:p>
            <a:pPr/>
            <a:r>
              <a:t>公式：$|\phi(x, \theta)\rangle = U(\theta) U_{enc}(x) |0\rangle$。</a:t>
            </a:r>
          </a:p>
          <a:p>
            <a:pPr/>
            <a:r>
              <a:t>**量子测量 (Measurement)**：</a:t>
            </a:r>
          </a:p>
          <a:p>
            <a:pPr/>
            <a:r>
              <a:t>测量 Pauli-Z 算符的期望值：$\langle Z \rangle = \langle \phi | Z | \phi \rangle$。</a:t>
            </a:r>
          </a:p>
          <a:p>
            <a:pPr/>
            <a:r>
              <a:t>**Born 规则**：测量概率 $p(m) = |\langle m|\phi\rangle|^2$。模平方项引入了关键的非线性。</a:t>
            </a:r>
          </a:p>
          <a:p>
            <a:pPr/>
            <a:r>
              <a:t>**混合优化循环**：</a:t>
            </a:r>
          </a:p>
          <a:p>
            <a:pPr/>
            <a:r>
              <a:t>1.  **量子端**：执行电路，测量输出预测值 $\hat{y}$。</a:t>
            </a:r>
          </a:p>
          <a:p>
            <a:pPr/>
            <a:r>
              <a:t>2.  **经典端**：计算 Loss，通过 **Parameter-shift rule** 计算梯度并更新 $\theta$。</a:t>
            </a:r>
          </a:p>
          <a:p>
            <a:pPr/>
            <a:r>
              <a:t>3.  **循环**：直至预测残差 $\Delta$ 与 DFT 真值匹配。</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